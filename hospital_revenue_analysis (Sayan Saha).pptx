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n Saha" userId="87da4e9c8a47fea5" providerId="LiveId" clId="{1BFD5A77-7109-4027-9327-AE4656046218}"/>
    <pc:docChg chg="modSld">
      <pc:chgData name="Sayan Saha" userId="87da4e9c8a47fea5" providerId="LiveId" clId="{1BFD5A77-7109-4027-9327-AE4656046218}" dt="2026-07-20T18:51:30.692" v="17" actId="14100"/>
      <pc:docMkLst>
        <pc:docMk/>
      </pc:docMkLst>
      <pc:sldChg chg="modSp mod modTransition">
        <pc:chgData name="Sayan Saha" userId="87da4e9c8a47fea5" providerId="LiveId" clId="{1BFD5A77-7109-4027-9327-AE4656046218}" dt="2026-07-17T06:41:44.643" v="8"/>
        <pc:sldMkLst>
          <pc:docMk/>
          <pc:sldMk cId="0" sldId="256"/>
        </pc:sldMkLst>
        <pc:spChg chg="mod">
          <ac:chgData name="Sayan Saha" userId="87da4e9c8a47fea5" providerId="LiveId" clId="{1BFD5A77-7109-4027-9327-AE4656046218}" dt="2026-07-17T06:38:25.367" v="6" actId="20577"/>
          <ac:spMkLst>
            <pc:docMk/>
            <pc:sldMk cId="0" sldId="256"/>
            <ac:spMk id="7" creationId="{00000000-0000-0000-0000-000000000000}"/>
          </ac:spMkLst>
        </pc:spChg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57"/>
        </pc:sldMkLst>
      </pc:sldChg>
      <pc:sldChg chg="modSp mod modTransition">
        <pc:chgData name="Sayan Saha" userId="87da4e9c8a47fea5" providerId="LiveId" clId="{1BFD5A77-7109-4027-9327-AE4656046218}" dt="2026-07-20T18:51:30.692" v="17" actId="14100"/>
        <pc:sldMkLst>
          <pc:docMk/>
          <pc:sldMk cId="0" sldId="258"/>
        </pc:sldMkLst>
        <pc:spChg chg="mod">
          <ac:chgData name="Sayan Saha" userId="87da4e9c8a47fea5" providerId="LiveId" clId="{1BFD5A77-7109-4027-9327-AE4656046218}" dt="2026-07-20T18:51:30.692" v="17" actId="14100"/>
          <ac:spMkLst>
            <pc:docMk/>
            <pc:sldMk cId="0" sldId="258"/>
            <ac:spMk id="19" creationId="{00000000-0000-0000-0000-000000000000}"/>
          </ac:spMkLst>
        </pc:spChg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59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0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1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2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3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4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5"/>
        </pc:sldMkLst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6"/>
        </pc:sldMkLst>
      </pc:sldChg>
      <pc:sldChg chg="modSp modTransition">
        <pc:chgData name="Sayan Saha" userId="87da4e9c8a47fea5" providerId="LiveId" clId="{1BFD5A77-7109-4027-9327-AE4656046218}" dt="2026-07-17T06:44:50.813" v="15"/>
        <pc:sldMkLst>
          <pc:docMk/>
          <pc:sldMk cId="0" sldId="267"/>
        </pc:sldMkLst>
        <pc:spChg chg="mod">
          <ac:chgData name="Sayan Saha" userId="87da4e9c8a47fea5" providerId="LiveId" clId="{1BFD5A77-7109-4027-9327-AE4656046218}" dt="2026-07-17T06:44:50.813" v="15"/>
          <ac:spMkLst>
            <pc:docMk/>
            <pc:sldMk cId="0" sldId="267"/>
            <ac:spMk id="6" creationId="{00000000-0000-0000-0000-000000000000}"/>
          </ac:spMkLst>
        </pc:spChg>
      </pc:sldChg>
      <pc:sldChg chg="modTransition">
        <pc:chgData name="Sayan Saha" userId="87da4e9c8a47fea5" providerId="LiveId" clId="{1BFD5A77-7109-4027-9327-AE4656046218}" dt="2026-07-17T06:41:44.643" v="8"/>
        <pc:sldMkLst>
          <pc:docMk/>
          <pc:sldMk cId="0" sldId="268"/>
        </pc:sldMkLst>
      </pc:sldChg>
      <pc:sldChg chg="modSp mod modTransition">
        <pc:chgData name="Sayan Saha" userId="87da4e9c8a47fea5" providerId="LiveId" clId="{1BFD5A77-7109-4027-9327-AE4656046218}" dt="2026-07-17T06:41:44.643" v="8"/>
        <pc:sldMkLst>
          <pc:docMk/>
          <pc:sldMk cId="0" sldId="269"/>
        </pc:sldMkLst>
        <pc:spChg chg="mod">
          <ac:chgData name="Sayan Saha" userId="87da4e9c8a47fea5" providerId="LiveId" clId="{1BFD5A77-7109-4027-9327-AE4656046218}" dt="2026-07-17T06:38:40.107" v="7" actId="6549"/>
          <ac:spMkLst>
            <pc:docMk/>
            <pc:sldMk cId="0" sldId="269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B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2B30"/>
                </a:solidFill>
                <a:latin typeface="Arial"/>
              </a:rPr>
              <a:t>Gender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C7-45BF-9693-6356138E71C0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C7-45BF-9693-6356138E71C0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C7-45BF-9693-6356138E71C0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C7-45BF-9693-6356138E71C0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C7-45BF-9693-6356138E7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D2B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B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2B30"/>
                </a:solidFill>
                <a:latin typeface="Arial"/>
              </a:rPr>
              <a:t>Age Band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18-35</c:v>
                </c:pt>
                <c:pt idx="1">
                  <c:v>36-50</c:v>
                </c:pt>
                <c:pt idx="2">
                  <c:v>51-65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B-45C6-A384-C7E56CA69A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B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2B30"/>
                </a:solidFill>
                <a:latin typeface="Arial"/>
              </a:rPr>
              <a:t>Insurance Provider Mix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MedCare Plus</c:v>
                </c:pt>
                <c:pt idx="1">
                  <c:v>WellnessCorp</c:v>
                </c:pt>
                <c:pt idx="2">
                  <c:v>PulseSecure</c:v>
                </c:pt>
                <c:pt idx="3">
                  <c:v>HealthIndia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2-4AB0-AB7F-47EB36CF8A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No-show</c:v>
                </c:pt>
                <c:pt idx="1">
                  <c:v>Scheduled</c:v>
                </c:pt>
                <c:pt idx="2">
                  <c:v>Cancelled</c:v>
                </c:pt>
                <c:pt idx="3">
                  <c:v>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51</c:v>
                </c:pt>
                <c:pt idx="2">
                  <c:v>51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C-44C4-8201-FADB5DF1B5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E4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F53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6E4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3E4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23E4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B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2B30"/>
                </a:solidFill>
                <a:latin typeface="Arial"/>
              </a:rPr>
              <a:t>No-show + Cancelled Rate by Specialization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 %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Dermatology</c:v>
                </c:pt>
                <c:pt idx="1">
                  <c:v>Pediatrics</c:v>
                </c:pt>
                <c:pt idx="2">
                  <c:v>Oncology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54.3</c:v>
                </c:pt>
                <c:pt idx="1">
                  <c:v>51</c:v>
                </c:pt>
                <c:pt idx="2">
                  <c:v>46.9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5-4AC0-92E2-D4E57386A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Billed</c:v>
                </c:pt>
              </c:strCache>
            </c:strRef>
          </c:tx>
          <c:spPr>
            <a:solidFill>
              <a:srgbClr val="8DD3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Pediatrics</c:v>
                </c:pt>
                <c:pt idx="1">
                  <c:v>Dermatology</c:v>
                </c:pt>
                <c:pt idx="2">
                  <c:v>Oncology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258938</c:v>
                </c:pt>
                <c:pt idx="1">
                  <c:v>202709</c:v>
                </c:pt>
                <c:pt idx="2">
                  <c:v>89603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F-4DC7-A908-EC274C7A5D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Pediatrics</c:v>
                </c:pt>
                <c:pt idx="1">
                  <c:v>Dermatology</c:v>
                </c:pt>
                <c:pt idx="2">
                  <c:v>Oncology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88085</c:v>
                </c:pt>
                <c:pt idx="1">
                  <c:v>65330</c:v>
                </c:pt>
                <c:pt idx="2">
                  <c:v>20010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3F-4DC7-A908-EC274C7A5D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D2B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Billed</c:v>
                </c:pt>
              </c:strCache>
            </c:strRef>
          </c:tx>
          <c:spPr>
            <a:solidFill>
              <a:srgbClr val="8DD3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Central Hospital</c:v>
                </c:pt>
                <c:pt idx="1">
                  <c:v>Eastside Clinic</c:v>
                </c:pt>
                <c:pt idx="2">
                  <c:v>Westside Clinic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229039</c:v>
                </c:pt>
                <c:pt idx="1">
                  <c:v>162031</c:v>
                </c:pt>
                <c:pt idx="2">
                  <c:v>160179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20-4DC3-A472-31F73EE258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Central Hospital</c:v>
                </c:pt>
                <c:pt idx="1">
                  <c:v>Eastside Clinic</c:v>
                </c:pt>
                <c:pt idx="2">
                  <c:v>Westside Clinic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86460</c:v>
                </c:pt>
                <c:pt idx="1">
                  <c:v>54397</c:v>
                </c:pt>
                <c:pt idx="2">
                  <c:v>32567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20-4DC3-A472-31F73EE258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D2B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Collected 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Sarah Taylor</c:v>
                </c:pt>
                <c:pt idx="1">
                  <c:v>Alex Davis</c:v>
                </c:pt>
                <c:pt idx="2">
                  <c:v>Linda Wilson</c:v>
                </c:pt>
                <c:pt idx="3">
                  <c:v>David Taylor</c:v>
                </c:pt>
                <c:pt idx="4">
                  <c:v>Jane Davis</c:v>
                </c:pt>
                <c:pt idx="5">
                  <c:v>David Jones</c:v>
                </c:pt>
                <c:pt idx="6">
                  <c:v>Jane Smith</c:v>
                </c:pt>
                <c:pt idx="7">
                  <c:v>Linda Brown</c:v>
                </c:pt>
                <c:pt idx="8">
                  <c:v>Sarah Smith</c:v>
                </c:pt>
                <c:pt idx="9">
                  <c:v>Robert Davis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33837</c:v>
                </c:pt>
                <c:pt idx="1">
                  <c:v>25699</c:v>
                </c:pt>
                <c:pt idx="2">
                  <c:v>18936</c:v>
                </c:pt>
                <c:pt idx="3">
                  <c:v>18573</c:v>
                </c:pt>
                <c:pt idx="4">
                  <c:v>18202</c:v>
                </c:pt>
                <c:pt idx="5">
                  <c:v>17693</c:v>
                </c:pt>
                <c:pt idx="6">
                  <c:v>17260</c:v>
                </c:pt>
                <c:pt idx="7">
                  <c:v>12920</c:v>
                </c:pt>
                <c:pt idx="8">
                  <c:v>9231</c:v>
                </c:pt>
                <c:pt idx="9">
                  <c:v>1075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93-4875-BB3E-2F45EF4F42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Westside Clinic</c:v>
                </c:pt>
                <c:pt idx="1">
                  <c:v>Eastside Clinic</c:v>
                </c:pt>
                <c:pt idx="2">
                  <c:v>Central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27.8</c:v>
                </c:pt>
                <c:pt idx="1">
                  <c:v>25.8</c:v>
                </c:pt>
                <c:pt idx="2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6-46BF-AA8A-F21841586A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55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Cumulative Collected Revenue, 2023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Total (₹)</c:v>
                </c:pt>
              </c:strCache>
            </c:strRef>
          </c:tx>
          <c:spPr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20081</c:v>
                </c:pt>
                <c:pt idx="1">
                  <c:v>23113</c:v>
                </c:pt>
                <c:pt idx="2">
                  <c:v>42709</c:v>
                </c:pt>
                <c:pt idx="3">
                  <c:v>53089</c:v>
                </c:pt>
                <c:pt idx="4">
                  <c:v>65981</c:v>
                </c:pt>
                <c:pt idx="5">
                  <c:v>96455</c:v>
                </c:pt>
                <c:pt idx="6">
                  <c:v>104093</c:v>
                </c:pt>
                <c:pt idx="7">
                  <c:v>115930</c:v>
                </c:pt>
                <c:pt idx="8">
                  <c:v>132135</c:v>
                </c:pt>
                <c:pt idx="9">
                  <c:v>147843</c:v>
                </c:pt>
                <c:pt idx="10">
                  <c:v>159151</c:v>
                </c:pt>
                <c:pt idx="11">
                  <c:v>173425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59-45F1-904F-EAA8466D3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E4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F53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E4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98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E4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1887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926080"/>
            <a:ext cx="3291840" cy="329184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 &amp; REVENUE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Case Study on a Multi-Branch Hospital Management 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Sayan Saha  |  SQL •  Patients, Doctors, Appointments, Treatments, Billing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We're Answering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this hospital chain losing revenue and operational efficiency — and which doctors, specializations, and branches perform best?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8DD3C7"/>
            </a:solidFill>
            <a:prstDash val="solid"/>
          </a:ln>
          <a:effectLst>
            <a:outerShdw blurRad="101600" dist="38100" dir="5400000" algn="bl" rotWithShape="0">
              <a:srgbClr val="023E4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row counts and referential integrity across all 5 tables before writing a single analytical query.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8DD3C7"/>
            </a:solidFill>
            <a:prstDash val="solid"/>
          </a:ln>
          <a:effectLst>
            <a:outerShdw blurRad="101600" dist="38100" dir="5400000" algn="bl" rotWithShape="0">
              <a:srgbClr val="023E4D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Linked Tables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Doctors, Appointments, Treatments, and Billing — joined to trace a patient visit from booking to payment.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8DD3C7"/>
            </a:solidFill>
            <a:prstDash val="solid"/>
          </a:ln>
          <a:effectLst>
            <a:outerShdw blurRad="101600" dist="38100" dir="5400000" algn="bl" rotWithShape="0">
              <a:srgbClr val="023E4D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Techniques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JOINs, CTEs, window functions (RANK, ROW_NUMBER, running totals), and conditional aggregation.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Connects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816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07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828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3200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3200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966960" y="32004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0" y="3401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6960" y="3822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788920"/>
            <a:ext cx="1737360" cy="10058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468880" y="3803904"/>
            <a:ext cx="1737360" cy="93268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794760"/>
            <a:ext cx="1463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79476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visit flows left to right: booked with a doctor → becomes a treatment → generates a bill. This 1:1 chain lets us trace revenue all the way back to the doctor and specialization that generated 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the Patients?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343400" y="1371600"/>
          <a:ext cx="3566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/>
        </p:nvGraphicFramePr>
        <p:xfrm>
          <a:off x="8138160" y="1371600"/>
          <a:ext cx="3566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1"/>
          <p:cNvSpPr/>
          <p:nvPr/>
        </p:nvSpPr>
        <p:spPr>
          <a:xfrm>
            <a:off x="54864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patients are male; the largest single age group is 18-35 (20 patients). MedCare Plus is the top insurer, covering 36% of the base.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E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All Bookings Never Happen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200 booked appointments end 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or Cancelled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669280" y="146304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Dermatology &amp; Pediatrics Lose the Most Slots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46304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949440" y="1737360"/>
            <a:ext cx="46177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8DD3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237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SQL query does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3760" y="242316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appointments to doctors to get specialization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conditional SUM(CASE WHEN...) to count lost slots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by total appointments per group to get a rate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specialization, ORDER BY the lost rate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E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D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REVENUE REALITY CHECK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billed revenue has actually been collected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₹5,51,250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4937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26280" y="4297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₹1,73,425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4937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(Paid)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297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₹3,77,825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0" y="4937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(Pending + Failed)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Oncology Has the Weakest Collection Rate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315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C1443C"/>
          </a:solidFill>
          <a:ln/>
        </p:spPr>
      </p:sp>
      <p:sp>
        <p:nvSpPr>
          <p:cNvPr id="5" name="Text 2"/>
          <p:cNvSpPr/>
          <p:nvPr/>
        </p:nvSpPr>
        <p:spPr>
          <a:xfrm>
            <a:off x="8138160" y="20116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412480" y="30175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Oncology's collection rate — the lowest of all three specializations, despite carrying the highest average treatment cost (Chemotherapy avg ₹2,630/case).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Risk, by Branch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10881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Performance, Ranked by Revenue Collected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589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73736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8DD3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9536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RANK() window function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95360" y="2606040"/>
            <a:ext cx="2834640" cy="1371600"/>
          </a:xfrm>
          <a:prstGeom prst="rect">
            <a:avLst/>
          </a:prstGeom>
          <a:solidFill>
            <a:srgbClr val="F0F6F6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OVER 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SUM(collected) DESC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revenue_rank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95360" y="41605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Taylor (Dermatology) leads at ₹33,837 collected. Robert Davis (Oncology) has the lowest collected revenue despite treating patients — nearly all his bills are unpaid.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Hospital: Highest Volume, Lowest Completion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6035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82880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FFF7E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0100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Flag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27432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Hospital handles 84 appointments — more than any other branch — but completes only 17.9% of them, well below Westside (27.8%) and Eastside (25.8%).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overbooking or scheduling capacity issues rather than patient behavior, since patient-side no-show causes should be roughly similar across branches.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E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Under the Hood: CTE + Window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collected revenue with a running total — used to build the year-over-year trend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4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5577840" cy="3840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monthly_revenue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DATE_FORMAT(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bill_date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'%Y-%m') AS month,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SUM(amount) AS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collected_revenue</a:t>
            </a:r>
            <a:endParaRPr lang="en-US" sz="1300" dirty="0">
              <a:solidFill>
                <a:srgbClr val="9FE8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billing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payment_status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'Paid'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DATE_FORMAT(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bill_date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'%Y-%m')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month,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collected_revenue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collected_revenue</a:t>
            </a: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OVER (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month</a:t>
            </a: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running_total</a:t>
            </a:r>
            <a:endParaRPr lang="en-US" sz="1300" dirty="0">
              <a:solidFill>
                <a:srgbClr val="9FE8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300" dirty="0" err="1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monthly_revenue</a:t>
            </a:r>
            <a:endParaRPr lang="en-US" sz="1300" dirty="0">
              <a:solidFill>
                <a:srgbClr val="9FE8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month;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0" y="182880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leakage is systemic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patients (48/50) carry at least one unpaid bill — tighten billing follow-up and payment-method friction, not just a few accounts.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Oncology needs a billing review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299008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Highest-cost specialization, lowest collection rate (22.3%) — investigate insurance approval delays for high-value claims.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840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Hospital is overbooked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422452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volume, lowest completion (17.9%) — review scheduling capacity vs. Westside/Eastside.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≠ reliability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34440" y="545896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varies 4.8%–35.7% across doctors with no clear link to years of experience — look at individual scheduling/reminder practices.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E4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D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 and query outputs available on request.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790</Words>
  <Application>Microsoft Office PowerPoint</Application>
  <PresentationFormat>Widescreen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Sayan Saha</cp:lastModifiedBy>
  <cp:revision>1</cp:revision>
  <dcterms:created xsi:type="dcterms:W3CDTF">2026-07-14T19:52:19Z</dcterms:created>
  <dcterms:modified xsi:type="dcterms:W3CDTF">2026-07-20T18:51:35Z</dcterms:modified>
</cp:coreProperties>
</file>